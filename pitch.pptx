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9" r:id="rId6"/>
    <p:sldId id="268" r:id="rId7"/>
    <p:sldId id="260" r:id="rId8"/>
    <p:sldId id="262" r:id="rId9"/>
    <p:sldId id="263" r:id="rId10"/>
    <p:sldId id="258" r:id="rId11"/>
    <p:sldId id="270" r:id="rId12"/>
    <p:sldId id="277" r:id="rId13"/>
    <p:sldId id="278" r:id="rId14"/>
    <p:sldId id="283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D4BF"/>
    <a:srgbClr val="1E293B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4E4D0-CF1A-4306-AE96-54CE7A4C203B}" v="494" dt="2026-05-31T09:56:40.495"/>
    <p1510:client id="{2726DDB9-6CE7-6D7F-B16C-1627DE062A58}" v="657" dt="2026-05-31T07:21:40.166"/>
    <p1510:client id="{9CC2FA53-4723-4B0C-B995-A80E20231CCF}" v="2244" dt="2026-05-31T09:57:07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4A2C9-7B05-4C26-BCFC-603FE712118D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8D827-7F72-4A5E-BECC-23326DB2098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499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8D827-7F72-4A5E-BECC-23326DB20983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748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687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6400" b="1">
                <a:solidFill>
                  <a:srgbClr val="2DD4BF"/>
                </a:solidFill>
                <a:latin typeface="Arial"/>
              </a:defRPr>
            </a:pPr>
            <a:r>
              <a:rPr lang="en-US" dirty="0"/>
              <a:t>Low-n</a:t>
            </a:r>
            <a:r>
              <a:rPr lang="en-CH" noProof="0" dirty="0"/>
              <a:t> Fine-</a:t>
            </a:r>
            <a:r>
              <a:rPr lang="en-US" noProof="0" dirty="0"/>
              <a:t>T</a:t>
            </a:r>
            <a:r>
              <a:rPr lang="en-CH" noProof="0" dirty="0"/>
              <a:t>uning</a:t>
            </a:r>
          </a:p>
          <a:p>
            <a:pPr>
              <a:spcAft>
                <a:spcPts val="40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rPr lang="en-US" dirty="0"/>
              <a:t>Similarity-Based Low-n Fine-Tuning on OpenFold3 for PDE10</a:t>
            </a:r>
            <a:endParaRPr lang="en-CH" noProof="0" dirty="0"/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rPr lang="en-US" sz="2000" noProof="0" dirty="0"/>
              <a:t>FoldMaxxers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rPr lang="en-CH" sz="2000" noProof="0" dirty="0"/>
              <a:t>BioIncubate Catalyst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CDEE6-78D1-F899-6085-EBB59B92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516484-C3DE-3F2C-C77D-8FC2FEF3ABD5}"/>
              </a:ext>
            </a:extLst>
          </p:cNvPr>
          <p:cNvSpPr txBox="1"/>
          <p:nvPr/>
        </p:nvSpPr>
        <p:spPr>
          <a:xfrm>
            <a:off x="914400" y="731520"/>
            <a:ext cx="2795637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CH" noProof="0"/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1605B-9ECB-91BC-51C9-0EBC83A909C3}"/>
              </a:ext>
            </a:extLst>
          </p:cNvPr>
          <p:cNvSpPr txBox="1"/>
          <p:nvPr/>
        </p:nvSpPr>
        <p:spPr>
          <a:xfrm>
            <a:off x="914400" y="1553229"/>
            <a:ext cx="5504098" cy="2185214"/>
          </a:xfrm>
          <a:prstGeom prst="rect">
            <a:avLst/>
          </a:prstGeom>
          <a:noFill/>
        </p:spPr>
        <p:txBody>
          <a:bodyPr wrap="square" lIns="0" tIns="0" rIns="0" bIns="0" numCol="1" anchor="t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rPr lang="en-CH"/>
              <a:t>Failures are strongly systematic</a:t>
            </a:r>
            <a:endParaRPr lang="en-CH" noProof="0"/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cyclopropyl, pyrimidine, and methylpyridine ligands show −60 to −86% prevalence in good predictions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cs typeface="Arial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CH" noProof="0">
              <a:cs typeface="Arial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25FE9D-D5F1-7F84-CA2C-0073811C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15"/>
          <a:stretch>
            <a:fillRect/>
          </a:stretch>
        </p:blipFill>
        <p:spPr>
          <a:xfrm>
            <a:off x="1668242" y="2756651"/>
            <a:ext cx="8855516" cy="4024043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CE4D27A6-1860-6641-65C2-4BDA38A52EF5}"/>
              </a:ext>
            </a:extLst>
          </p:cNvPr>
          <p:cNvSpPr txBox="1"/>
          <p:nvPr/>
        </p:nvSpPr>
        <p:spPr>
          <a:xfrm>
            <a:off x="6610227" y="1033102"/>
            <a:ext cx="5717459" cy="1723549"/>
          </a:xfrm>
          <a:prstGeom prst="rect">
            <a:avLst/>
          </a:prstGeom>
          <a:noFill/>
        </p:spPr>
        <p:txBody>
          <a:bodyPr wrap="square" lIns="0" tIns="0" rIns="0" bIns="0" numCol="1" anchor="t">
            <a:spAutoFit/>
          </a:bodyPr>
          <a:lstStyle/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cs typeface="Arial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aliphatic ethers and fluorine-containing ligands are the exception — where it actually works</a:t>
            </a:r>
            <a:r>
              <a:rPr lang="en-US" noProof="0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CH" noProof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18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2685D-AA7A-6652-A291-E5629CE0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3F4BBB-8F3B-0C63-9ACE-1E71AC622353}"/>
              </a:ext>
            </a:extLst>
          </p:cNvPr>
          <p:cNvSpPr txBox="1"/>
          <p:nvPr/>
        </p:nvSpPr>
        <p:spPr>
          <a:xfrm>
            <a:off x="914400" y="731520"/>
            <a:ext cx="2795637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US" dirty="0"/>
              <a:t>Our Solution</a:t>
            </a:r>
            <a:endParaRPr lang="en-CH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5F92B4-852B-D6C2-3096-496CA43F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8" y="2939103"/>
            <a:ext cx="1601670" cy="1618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F2409E-874C-9077-BED4-B9EF2AC5259C}"/>
              </a:ext>
            </a:extLst>
          </p:cNvPr>
          <p:cNvSpPr txBox="1"/>
          <p:nvPr/>
        </p:nvSpPr>
        <p:spPr>
          <a:xfrm>
            <a:off x="186469" y="1970936"/>
            <a:ext cx="2122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2DD4BF"/>
                </a:solidFill>
              </a:rPr>
              <a:t>ESM-2 embedding</a:t>
            </a:r>
          </a:p>
          <a:p>
            <a:pPr algn="ctr"/>
            <a:r>
              <a:rPr lang="en-US" b="1">
                <a:solidFill>
                  <a:srgbClr val="2DD4BF"/>
                </a:solidFill>
              </a:rPr>
              <a:t>-pocket only</a:t>
            </a:r>
          </a:p>
          <a:p>
            <a:pPr algn="ctr"/>
            <a:r>
              <a:rPr lang="en-US" b="1">
                <a:solidFill>
                  <a:srgbClr val="2DD4BF"/>
                </a:solidFill>
              </a:rPr>
              <a:t>-ligand</a:t>
            </a:r>
            <a:endParaRPr lang="en-CH" b="1">
              <a:solidFill>
                <a:srgbClr val="2DD4B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799DD7-BC40-0D3D-E3F6-6D8EA218B389}"/>
              </a:ext>
            </a:extLst>
          </p:cNvPr>
          <p:cNvCxnSpPr>
            <a:cxnSpLocks/>
          </p:cNvCxnSpPr>
          <p:nvPr/>
        </p:nvCxnSpPr>
        <p:spPr>
          <a:xfrm flipV="1">
            <a:off x="2078248" y="3632930"/>
            <a:ext cx="909501" cy="664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23C449-CFA4-654A-48F3-AA09B30CCF96}"/>
              </a:ext>
            </a:extLst>
          </p:cNvPr>
          <p:cNvSpPr txBox="1"/>
          <p:nvPr/>
        </p:nvSpPr>
        <p:spPr>
          <a:xfrm>
            <a:off x="3007351" y="1658066"/>
            <a:ext cx="2529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2DD4BF"/>
                </a:solidFill>
              </a:rPr>
              <a:t>Joint similarity score</a:t>
            </a:r>
          </a:p>
          <a:p>
            <a:pPr algn="ctr"/>
            <a:r>
              <a:rPr lang="en-US" b="1">
                <a:solidFill>
                  <a:srgbClr val="2DD4BF"/>
                </a:solidFill>
              </a:rPr>
              <a:t>UMAP clustering of DB</a:t>
            </a:r>
            <a:endParaRPr lang="en-CH" b="1">
              <a:solidFill>
                <a:srgbClr val="2DD4B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4676A-D717-A57F-5980-E00C9D9EFE2C}"/>
              </a:ext>
            </a:extLst>
          </p:cNvPr>
          <p:cNvSpPr txBox="1"/>
          <p:nvPr/>
        </p:nvSpPr>
        <p:spPr>
          <a:xfrm>
            <a:off x="6655234" y="1970936"/>
            <a:ext cx="2122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2DD4BF"/>
                </a:solidFill>
              </a:rPr>
              <a:t>Subset of PDE10</a:t>
            </a:r>
          </a:p>
          <a:p>
            <a:pPr algn="ctr"/>
            <a:r>
              <a:rPr lang="en-US" b="1">
                <a:solidFill>
                  <a:srgbClr val="2DD4BF"/>
                </a:solidFill>
              </a:rPr>
              <a:t>35/8 </a:t>
            </a:r>
          </a:p>
          <a:p>
            <a:pPr algn="ctr"/>
            <a:r>
              <a:rPr lang="en-US" b="1">
                <a:solidFill>
                  <a:srgbClr val="2DD4BF"/>
                </a:solidFill>
              </a:rPr>
              <a:t>Train/Val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92FA2-5BA0-962D-D6A9-BA5CA1BD2B1B}"/>
              </a:ext>
            </a:extLst>
          </p:cNvPr>
          <p:cNvSpPr txBox="1"/>
          <p:nvPr/>
        </p:nvSpPr>
        <p:spPr>
          <a:xfrm>
            <a:off x="9808103" y="2216381"/>
            <a:ext cx="212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2DD4BF"/>
                </a:solidFill>
              </a:rPr>
              <a:t>Fine-tuning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F8D221-7970-B74D-9E4E-2087E285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463" y="4622781"/>
            <a:ext cx="2307874" cy="17950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109FC9-8C51-7249-D7E7-77BB3D445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462" y="2401047"/>
            <a:ext cx="2307874" cy="20284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6E584D-2586-F73B-C853-A40D4576FE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3" t="3735" r="80086" b="23092"/>
          <a:stretch>
            <a:fillRect/>
          </a:stretch>
        </p:blipFill>
        <p:spPr>
          <a:xfrm>
            <a:off x="10041912" y="2690336"/>
            <a:ext cx="1685987" cy="2862461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A11F8A-B0C4-4344-2BFE-A8C6E5795DCE}"/>
              </a:ext>
            </a:extLst>
          </p:cNvPr>
          <p:cNvCxnSpPr>
            <a:cxnSpLocks/>
          </p:cNvCxnSpPr>
          <p:nvPr/>
        </p:nvCxnSpPr>
        <p:spPr>
          <a:xfrm flipV="1">
            <a:off x="5758310" y="3629609"/>
            <a:ext cx="909501" cy="664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B0BF80-1A45-EFD5-090B-E9C518139E93}"/>
              </a:ext>
            </a:extLst>
          </p:cNvPr>
          <p:cNvCxnSpPr>
            <a:cxnSpLocks/>
          </p:cNvCxnSpPr>
          <p:nvPr/>
        </p:nvCxnSpPr>
        <p:spPr>
          <a:xfrm flipV="1">
            <a:off x="8775677" y="3587218"/>
            <a:ext cx="909501" cy="664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0EFE2FE4-CA77-69BD-0A87-726825148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2498" t="8923" r="16162" b="5693"/>
          <a:stretch>
            <a:fillRect/>
          </a:stretch>
        </p:blipFill>
        <p:spPr bwMode="auto">
          <a:xfrm>
            <a:off x="6715940" y="2943290"/>
            <a:ext cx="1954590" cy="233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44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5232202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err="1"/>
              <a:t>Our</a:t>
            </a:r>
            <a:r>
              <a:rPr lang="de-CH" dirty="0"/>
              <a:t> Model Performance</a:t>
            </a:r>
            <a:endParaRPr lang="en-CH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FD51A9E-9ADA-390B-620B-37D94795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49" b="2998"/>
          <a:stretch>
            <a:fillRect/>
          </a:stretch>
        </p:blipFill>
        <p:spPr>
          <a:xfrm>
            <a:off x="601850" y="1626781"/>
            <a:ext cx="10323051" cy="4859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3154710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US" dirty="0"/>
              <a:t>Our Codebase</a:t>
            </a:r>
            <a:endParaRPr lang="en-CH" noProof="0" dirty="0"/>
          </a:p>
        </p:txBody>
      </p:sp>
      <p:sp>
        <p:nvSpPr>
          <p:cNvPr id="3" name="Rectangle 2"/>
          <p:cNvSpPr/>
          <p:nvPr/>
        </p:nvSpPr>
        <p:spPr>
          <a:xfrm>
            <a:off x="2147365" y="2100171"/>
            <a:ext cx="7751752" cy="4462504"/>
          </a:xfrm>
          <a:prstGeom prst="rect">
            <a:avLst/>
          </a:prstGeom>
          <a:noFill/>
          <a:ln w="762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endParaRPr lang="en-CH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0F8604-3317-CE70-925C-26B5088F3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303" y="2173021"/>
            <a:ext cx="7468565" cy="4273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CB7992-6C49-D47F-F7F6-D07409DBF391}"/>
              </a:ext>
            </a:extLst>
          </p:cNvPr>
          <p:cNvSpPr txBox="1"/>
          <p:nvPr/>
        </p:nvSpPr>
        <p:spPr>
          <a:xfrm>
            <a:off x="3000853" y="1583260"/>
            <a:ext cx="6025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github.com/chr13b/biohackathon.git</a:t>
            </a:r>
            <a:endParaRPr lang="en-CH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6400" b="1">
                <a:solidFill>
                  <a:srgbClr val="2DD4BF"/>
                </a:solidFill>
                <a:latin typeface="Arial"/>
              </a:defRPr>
            </a:pPr>
            <a:r>
              <a:rPr lang="en-US" noProof="0" dirty="0"/>
              <a:t>Questions?</a:t>
            </a:r>
            <a:endParaRPr lang="en-CH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2795637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CH" noProof="0" dirty="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754880" cy="218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rPr lang="en-CH"/>
              <a:t>Failures are strongly systematic</a:t>
            </a:r>
            <a:endParaRPr lang="en-CH" noProof="0" dirty="0"/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cyclopropyl, pyrimidine, and methylpyridine ligands show −60 to −86% prevalence in good predictions</a:t>
            </a:r>
            <a:endParaRPr lang="en-US">
              <a:cs typeface="Arial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F8FAFC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Aliphatic ethers and fluorine-containing ligands are the exception — where it actually works</a:t>
            </a:r>
            <a:r>
              <a:rPr lang="en-US" noProof="0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endParaRPr lang="en-CH" noProof="0">
              <a:cs typeface="Arial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ACE2B9D1-772E-5CAB-EF00-0E6D4DDBB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09312"/>
              </p:ext>
            </p:extLst>
          </p:nvPr>
        </p:nvGraphicFramePr>
        <p:xfrm>
          <a:off x="5839127" y="1620112"/>
          <a:ext cx="5673651" cy="3242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0531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Motif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noProof="0"/>
                        <a:t>Good iLDDT (iLDDT &gt;0.6) n=5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Poor iLDDT </a:t>
                      </a:r>
                      <a:endParaRPr lang="de-DE"/>
                    </a:p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(iLDDT &lt;0.4) n=7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49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Cyclopropyl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-86%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49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Pyrimidine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-80%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49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Methylpyridine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en-CH" noProof="0">
                          <a:solidFill>
                            <a:schemeClr val="bg1"/>
                          </a:solidFill>
                        </a:rPr>
                        <a:t>-66%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49">
                <a:tc>
                  <a:txBody>
                    <a:bodyPr/>
                    <a:lstStyle/>
                    <a:p>
                      <a:pPr lvl="0" algn="l">
                        <a:buNone/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Amide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5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rPr lang="de-DE" noProof="0">
                          <a:solidFill>
                            <a:schemeClr val="bg1"/>
                          </a:solidFill>
                        </a:rPr>
                        <a:t>-60%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920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E5AD1-0065-DD3C-1251-7FC5729F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D3AFB-5FB6-1844-DDA6-0D1EFFFE5392}"/>
              </a:ext>
            </a:extLst>
          </p:cNvPr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CH" noProof="0" dirty="0"/>
              <a:t>Performance &amp; Benchmark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E06CD-7532-4E2F-78A0-CC7D9D64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094" y="2067394"/>
            <a:ext cx="8686800" cy="272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F30F5-6BAD-58B2-AB66-D28182C0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39D89-8BF0-9F11-63FE-257E7ECD4D51}"/>
              </a:ext>
            </a:extLst>
          </p:cNvPr>
          <p:cNvSpPr txBox="1"/>
          <p:nvPr/>
        </p:nvSpPr>
        <p:spPr>
          <a:xfrm>
            <a:off x="914400" y="731520"/>
            <a:ext cx="7104509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noProof="0"/>
              <a:t>Ligand-Protein Interaction LDDT</a:t>
            </a:r>
            <a:endParaRPr lang="en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6EBF934-087C-57DD-3DC4-48003A7A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6815"/>
            <a:ext cx="12192000" cy="491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7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BE713-562C-AAD5-75D4-078D0657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00B2D-E8C4-1AFD-32A3-4591897E0959}"/>
              </a:ext>
            </a:extLst>
          </p:cNvPr>
          <p:cNvSpPr txBox="1"/>
          <p:nvPr/>
        </p:nvSpPr>
        <p:spPr>
          <a:xfrm>
            <a:off x="914400" y="731520"/>
            <a:ext cx="3000821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noProof="0"/>
              <a:t>Ligand RMSD</a:t>
            </a:r>
            <a:endParaRPr lang="en-CH" noProof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B7EBACA-A6E1-1C0D-A491-E63D9E4AF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6541"/>
            <a:ext cx="12192000" cy="469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1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01879-CB6A-AB8D-DB0E-F4D74FEF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590CE3-EFDD-D824-AD82-349CB7A6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72" y="1867159"/>
            <a:ext cx="3333194" cy="2216775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2AE18D1C-5EDE-6CCC-7EA6-D8B6DE836746}"/>
              </a:ext>
            </a:extLst>
          </p:cNvPr>
          <p:cNvSpPr txBox="1"/>
          <p:nvPr/>
        </p:nvSpPr>
        <p:spPr>
          <a:xfrm>
            <a:off x="914400" y="731520"/>
            <a:ext cx="6565900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err="1"/>
              <a:t>Our</a:t>
            </a:r>
            <a:r>
              <a:rPr lang="de-CH"/>
              <a:t> Model Performance: 5sh8</a:t>
            </a:r>
            <a:endParaRPr lang="en-CH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3E183-7197-A2EC-87C0-9C0712EF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38" y="1695610"/>
            <a:ext cx="3452037" cy="2939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510355-310A-2B02-21B4-8801240A7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444" y="1836582"/>
            <a:ext cx="3075947" cy="265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16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3B6A1-F6B9-2FC7-9AD1-E2D042ED5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CC99C-70EC-B88E-454A-288085E9A0DE}"/>
              </a:ext>
            </a:extLst>
          </p:cNvPr>
          <p:cNvSpPr txBox="1"/>
          <p:nvPr/>
        </p:nvSpPr>
        <p:spPr>
          <a:xfrm>
            <a:off x="914400" y="731520"/>
            <a:ext cx="3761927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noProof="0"/>
              <a:t>UMAP Clustering</a:t>
            </a:r>
            <a:endParaRPr lang="en-CH" noProof="0"/>
          </a:p>
        </p:txBody>
      </p:sp>
      <p:pic>
        <p:nvPicPr>
          <p:cNvPr id="4" name="Picture 24">
            <a:extLst>
              <a:ext uri="{FF2B5EF4-FFF2-40B4-BE49-F238E27FC236}">
                <a16:creationId xmlns:a16="http://schemas.microsoft.com/office/drawing/2014/main" id="{7F6DACE9-B35E-E726-0393-35D65D038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09" y="1426401"/>
            <a:ext cx="5347566" cy="4700079"/>
          </a:xfrm>
          <a:prstGeom prst="rect">
            <a:avLst/>
          </a:prstGeom>
        </p:spPr>
      </p:pic>
      <p:pic>
        <p:nvPicPr>
          <p:cNvPr id="5" name="Picture 22">
            <a:extLst>
              <a:ext uri="{FF2B5EF4-FFF2-40B4-BE49-F238E27FC236}">
                <a16:creationId xmlns:a16="http://schemas.microsoft.com/office/drawing/2014/main" id="{B271D4A0-6C5E-24B4-F57C-97169130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479" y="1426401"/>
            <a:ext cx="6042961" cy="470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50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C4C87-66D3-E6A4-5091-AAD66079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72301-9642-ECD5-4C3C-C96F137EA506}"/>
              </a:ext>
            </a:extLst>
          </p:cNvPr>
          <p:cNvSpPr txBox="1"/>
          <p:nvPr/>
        </p:nvSpPr>
        <p:spPr>
          <a:xfrm>
            <a:off x="914400" y="731520"/>
            <a:ext cx="5249258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de-CH" noProof="0"/>
              <a:t>Fine-Tuning Parameters</a:t>
            </a:r>
            <a:endParaRPr lang="en-CH" noProof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1911F40-E9BB-5C4A-455D-D80E8AEEFA2F}"/>
              </a:ext>
            </a:extLst>
          </p:cNvPr>
          <p:cNvSpPr txBox="1"/>
          <p:nvPr/>
        </p:nvSpPr>
        <p:spPr>
          <a:xfrm>
            <a:off x="914400" y="1836925"/>
            <a:ext cx="5594064" cy="410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{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batch_size</a:t>
            </a:r>
            <a:r>
              <a:rPr lang="de-CH">
                <a:solidFill>
                  <a:schemeClr val="bg1"/>
                </a:solidFill>
              </a:rPr>
              <a:t>": 4,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crop_size</a:t>
            </a:r>
            <a:r>
              <a:rPr lang="de-CH">
                <a:solidFill>
                  <a:schemeClr val="bg1"/>
                </a:solidFill>
              </a:rPr>
              <a:t>": 384,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data_seed</a:t>
            </a:r>
            <a:r>
              <a:rPr lang="de-CH">
                <a:solidFill>
                  <a:schemeClr val="bg1"/>
                </a:solidFill>
              </a:rPr>
              <a:t>": 42,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ema_decay</a:t>
            </a:r>
            <a:r>
              <a:rPr lang="de-CH">
                <a:solidFill>
                  <a:schemeClr val="bg1"/>
                </a:solidFill>
              </a:rPr>
              <a:t>": 0.99,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learning_rate</a:t>
            </a:r>
            <a:r>
              <a:rPr lang="de-CH">
                <a:solidFill>
                  <a:schemeClr val="bg1"/>
                </a:solidFill>
              </a:rPr>
              <a:t>": 0.0003,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maximum_training_time</a:t>
            </a:r>
            <a:r>
              <a:rPr lang="de-CH">
                <a:solidFill>
                  <a:schemeClr val="bg1"/>
                </a:solidFill>
              </a:rPr>
              <a:t>": 36000,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metric_to_monitor</a:t>
            </a:r>
            <a:r>
              <a:rPr lang="de-CH">
                <a:solidFill>
                  <a:schemeClr val="bg1"/>
                </a:solidFill>
              </a:rPr>
              <a:t>": "</a:t>
            </a:r>
            <a:r>
              <a:rPr lang="de-CH" err="1">
                <a:solidFill>
                  <a:schemeClr val="bg1"/>
                </a:solidFill>
              </a:rPr>
              <a:t>lddt_inter_protein_ligand</a:t>
            </a:r>
            <a:r>
              <a:rPr lang="de-CH">
                <a:solidFill>
                  <a:schemeClr val="bg1"/>
                </a:solidFill>
              </a:rPr>
              <a:t>",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num_gradient_steps_per_epoch</a:t>
            </a:r>
            <a:r>
              <a:rPr lang="de-CH">
                <a:solidFill>
                  <a:schemeClr val="bg1"/>
                </a:solidFill>
              </a:rPr>
              <a:t>": 8,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precision</a:t>
            </a:r>
            <a:r>
              <a:rPr lang="de-CH">
                <a:solidFill>
                  <a:schemeClr val="bg1"/>
                </a:solidFill>
              </a:rPr>
              <a:t>": "bf16",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save_top_k</a:t>
            </a:r>
            <a:r>
              <a:rPr lang="de-CH">
                <a:solidFill>
                  <a:schemeClr val="bg1"/>
                </a:solidFill>
              </a:rPr>
              <a:t>": -1,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training_seed</a:t>
            </a:r>
            <a:r>
              <a:rPr lang="de-CH">
                <a:solidFill>
                  <a:schemeClr val="bg1"/>
                </a:solidFill>
              </a:rPr>
              <a:t>": 42,</a:t>
            </a:r>
          </a:p>
          <a:p>
            <a:r>
              <a:rPr lang="de-CH">
                <a:solidFill>
                  <a:schemeClr val="bg1"/>
                </a:solidFill>
              </a:rPr>
              <a:t>    "</a:t>
            </a:r>
            <a:r>
              <a:rPr lang="de-CH" err="1">
                <a:solidFill>
                  <a:schemeClr val="bg1"/>
                </a:solidFill>
              </a:rPr>
              <a:t>warmup_steps</a:t>
            </a:r>
            <a:r>
              <a:rPr lang="de-CH">
                <a:solidFill>
                  <a:schemeClr val="bg1"/>
                </a:solidFill>
              </a:rPr>
              <a:t>": 50</a:t>
            </a:r>
          </a:p>
          <a:p>
            <a:r>
              <a:rPr lang="de-CH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6317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56C71-CE80-EC13-945C-81CE2408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15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AE99B019171B4595226F81BCBEDA2D" ma:contentTypeVersion="9" ma:contentTypeDescription="Ein neues Dokument erstellen." ma:contentTypeScope="" ma:versionID="3fbe1fa38bc665a4b601cc099f706182">
  <xsd:schema xmlns:xsd="http://www.w3.org/2001/XMLSchema" xmlns:xs="http://www.w3.org/2001/XMLSchema" xmlns:p="http://schemas.microsoft.com/office/2006/metadata/properties" xmlns:ns3="2e0e0695-8ecb-442e-a7f5-688ca01657b3" xmlns:ns4="7c190d71-135e-46ef-a20b-270e2d4bf571" targetNamespace="http://schemas.microsoft.com/office/2006/metadata/properties" ma:root="true" ma:fieldsID="427888e7249f03b6918885bb3e171906" ns3:_="" ns4:_="">
    <xsd:import namespace="2e0e0695-8ecb-442e-a7f5-688ca01657b3"/>
    <xsd:import namespace="7c190d71-135e-46ef-a20b-270e2d4bf5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e0695-8ecb-442e-a7f5-688ca01657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90d71-135e-46ef-a20b-270e2d4bf57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e0695-8ecb-442e-a7f5-688ca01657b3" xsi:nil="true"/>
  </documentManagement>
</p:properties>
</file>

<file path=customXml/itemProps1.xml><?xml version="1.0" encoding="utf-8"?>
<ds:datastoreItem xmlns:ds="http://schemas.openxmlformats.org/officeDocument/2006/customXml" ds:itemID="{F4B9130C-3F51-42FF-84BA-2B7158C0C8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e0695-8ecb-442e-a7f5-688ca01657b3"/>
    <ds:schemaRef ds:uri="7c190d71-135e-46ef-a20b-270e2d4bf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3CDB5D-DF8C-4D87-8904-540A35875E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0C9309-108F-4923-A52C-F0BB37477F25}">
  <ds:schemaRefs>
    <ds:schemaRef ds:uri="2e0e0695-8ecb-442e-a7f5-688ca01657b3"/>
    <ds:schemaRef ds:uri="http://purl.org/dc/terms/"/>
    <ds:schemaRef ds:uri="http://schemas.microsoft.com/office/2006/documentManagement/types"/>
    <ds:schemaRef ds:uri="http://purl.org/dc/dcmitype/"/>
    <ds:schemaRef ds:uri="7c190d71-135e-46ef-a20b-270e2d4bf57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321</Words>
  <Application>Microsoft Office PowerPoint</Application>
  <PresentationFormat>Widescreen</PresentationFormat>
  <Paragraphs>76</Paragraphs>
  <Slides>14</Slides>
  <Notes>1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Catharina Naeppi</dc:creator>
  <cp:keywords/>
  <dc:description>generated using python-pptx</dc:description>
  <cp:lastModifiedBy>Näppi  Catharina</cp:lastModifiedBy>
  <cp:revision>3</cp:revision>
  <dcterms:created xsi:type="dcterms:W3CDTF">2013-01-27T09:14:16Z</dcterms:created>
  <dcterms:modified xsi:type="dcterms:W3CDTF">2026-05-31T09:57:08Z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0x01010026AE99B019171B4595226F81BCBEDA2D</vt:lpwstr>
  </property>
</Properties>
</file>